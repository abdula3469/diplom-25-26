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5" r:id="rId4"/>
    <p:sldId id="280" r:id="rId5"/>
    <p:sldId id="258" r:id="rId6"/>
    <p:sldId id="259" r:id="rId7"/>
    <p:sldId id="269" r:id="rId8"/>
    <p:sldId id="270" r:id="rId9"/>
    <p:sldId id="260" r:id="rId10"/>
    <p:sldId id="262" r:id="rId11"/>
    <p:sldId id="264" r:id="rId12"/>
    <p:sldId id="274" r:id="rId13"/>
    <p:sldId id="277" r:id="rId14"/>
    <p:sldId id="276" r:id="rId15"/>
    <p:sldId id="267" r:id="rId16"/>
    <p:sldId id="268" r:id="rId17"/>
    <p:sldId id="271" r:id="rId18"/>
    <p:sldId id="265" r:id="rId19"/>
    <p:sldId id="273" r:id="rId20"/>
    <p:sldId id="278" r:id="rId21"/>
    <p:sldId id="27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D56E4D-C2F9-4426-8789-CB442294AC4B}" v="102" dt="2026-05-21T10:58:28.5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56" autoAdjust="0"/>
  </p:normalViewPr>
  <p:slideViewPr>
    <p:cSldViewPr snapToGrid="0">
      <p:cViewPr varScale="1">
        <p:scale>
          <a:sx n="78" d="100"/>
          <a:sy n="78" d="100"/>
        </p:scale>
        <p:origin x="77" y="110"/>
      </p:cViewPr>
      <p:guideLst/>
    </p:cSldViewPr>
  </p:slideViewPr>
  <p:outlineViewPr>
    <p:cViewPr>
      <p:scale>
        <a:sx n="33" d="100"/>
        <a:sy n="33" d="100"/>
      </p:scale>
      <p:origin x="0" y="-714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9A410-FE36-0572-A37E-27A48E8349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600" dirty="0">
                <a:ea typeface="+mj-lt"/>
                <a:cs typeface="+mj-lt"/>
              </a:rPr>
              <a:t>Генерация и верификация SPARQL-запросов с использованием LLM </a:t>
            </a:r>
            <a:r>
              <a:rPr lang="ru-RU" sz="3600">
                <a:ea typeface="+mj-lt"/>
                <a:cs typeface="+mj-lt"/>
              </a:rPr>
              <a:t>для навигации по графам знаний</a:t>
            </a:r>
            <a:endParaRPr lang="ru-RU" sz="36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CD4C25-E262-1923-48D7-5C4260ADE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>
                <a:ea typeface="+mn-lt"/>
                <a:cs typeface="+mn-lt"/>
              </a:rPr>
              <a:t>Студент: Запиров А.М.</a:t>
            </a:r>
          </a:p>
          <a:p>
            <a:r>
              <a:rPr lang="ru-RU">
                <a:ea typeface="+mn-lt"/>
                <a:cs typeface="+mn-lt"/>
              </a:rPr>
              <a:t>Научный руководитель: Атаева О.М.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182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BA3E8-F01D-A0D8-610E-61925AD1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Цель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F54262-400A-51B5-213F-CE8C77107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Создать дообученную языковую модель для автоматической генерации SPARQL запросов к </a:t>
            </a:r>
            <a:r>
              <a:rPr lang="ru-RU" dirty="0" err="1">
                <a:ea typeface="+mn-lt"/>
                <a:cs typeface="+mn-lt"/>
              </a:rPr>
              <a:t>Wikidata</a:t>
            </a:r>
            <a:r>
              <a:rPr lang="ru-RU" dirty="0">
                <a:ea typeface="+mn-lt"/>
                <a:cs typeface="+mn-lt"/>
              </a:rPr>
              <a:t> по вопросам на русском языке.</a:t>
            </a:r>
          </a:p>
          <a:p>
            <a:pPr marL="0" indent="0">
              <a:buNone/>
            </a:pPr>
            <a:r>
              <a:rPr lang="ru-RU" dirty="0">
                <a:solidFill>
                  <a:srgbClr val="191B0E"/>
                </a:solidFill>
                <a:ea typeface="+mn-lt"/>
                <a:cs typeface="+mn-lt"/>
              </a:rPr>
              <a:t>Актуальность:</a:t>
            </a:r>
          </a:p>
          <a:p>
            <a:pPr marL="342900" indent="-342900"/>
            <a:r>
              <a:rPr lang="ru-RU" dirty="0">
                <a:solidFill>
                  <a:srgbClr val="191B0E"/>
                </a:solidFill>
                <a:ea typeface="+mn-lt"/>
                <a:cs typeface="+mn-lt"/>
              </a:rPr>
              <a:t>SPARQL - сложный язык, требующий специальных знаний.</a:t>
            </a:r>
            <a:endParaRPr lang="ru-RU" dirty="0"/>
          </a:p>
          <a:p>
            <a:pPr marL="342900" indent="-342900"/>
            <a:r>
              <a:rPr lang="ru-RU" dirty="0">
                <a:solidFill>
                  <a:srgbClr val="191B0E"/>
                </a:solidFill>
                <a:ea typeface="+mn-lt"/>
                <a:cs typeface="+mn-lt"/>
              </a:rPr>
              <a:t>Ручное написание запросов - трудоемкий и медленный процесс.</a:t>
            </a:r>
            <a:r>
              <a:rPr lang="ru-RU" dirty="0"/>
              <a:t> </a:t>
            </a:r>
          </a:p>
          <a:p>
            <a:pPr marL="342900" indent="-342900"/>
            <a:r>
              <a:rPr lang="ru-RU" dirty="0"/>
              <a:t>Данная работа – часть проекта «Ассистент исследователя»</a:t>
            </a:r>
          </a:p>
        </p:txBody>
      </p:sp>
    </p:spTree>
    <p:extLst>
      <p:ext uri="{BB962C8B-B14F-4D97-AF65-F5344CB8AC3E}">
        <p14:creationId xmlns:p14="http://schemas.microsoft.com/office/powerpoint/2010/main" val="3945816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CC73D9-3BEE-4D59-A276-9F09023F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F03895-CC25-4AA0-AD7E-534C08A0A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59106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Разработать сервис, преобразующий вопросы на русском языке в SPARQL-запросы к графу знаний </a:t>
            </a:r>
            <a:r>
              <a:rPr lang="ru-RU" dirty="0" err="1"/>
              <a:t>Wikidata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Форма запроса: SELECT</a:t>
            </a:r>
          </a:p>
          <a:p>
            <a:r>
              <a:rPr lang="ru-RU" dirty="0"/>
              <a:t>Вычислительные ресурсы для обучения: 4 ГБ </a:t>
            </a:r>
            <a:r>
              <a:rPr lang="en-US" dirty="0"/>
              <a:t>GPU</a:t>
            </a:r>
            <a:r>
              <a:rPr lang="ru-RU" dirty="0"/>
              <a:t>, 16 ГБ ОЗУ</a:t>
            </a:r>
          </a:p>
          <a:p>
            <a:r>
              <a:rPr lang="ru-RU" dirty="0"/>
              <a:t>Формат ответа: Только </a:t>
            </a:r>
            <a:r>
              <a:rPr lang="en-US" dirty="0"/>
              <a:t>SPARQL-</a:t>
            </a:r>
            <a:r>
              <a:rPr lang="ru-RU" dirty="0"/>
              <a:t>запрос</a:t>
            </a:r>
          </a:p>
        </p:txBody>
      </p:sp>
    </p:spTree>
    <p:extLst>
      <p:ext uri="{BB962C8B-B14F-4D97-AF65-F5344CB8AC3E}">
        <p14:creationId xmlns:p14="http://schemas.microsoft.com/office/powerpoint/2010/main" val="1880834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4BB7A-8ABD-4A65-A0B4-BFBE5F00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решению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B7134F-AB70-42E9-91EE-971C06C48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Принимать на вход текстовый вопрос на русском языке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Генерировать синтаксически верный SPARQL-запрос.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Время ответа: не более 30 секунд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Потребление видеопамяти: не более 3 ГБ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Процент синтаксически корректных запросов: не менее 80%</a:t>
            </a:r>
          </a:p>
        </p:txBody>
      </p:sp>
    </p:spTree>
    <p:extLst>
      <p:ext uri="{BB962C8B-B14F-4D97-AF65-F5344CB8AC3E}">
        <p14:creationId xmlns:p14="http://schemas.microsoft.com/office/powerpoint/2010/main" val="44695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A9A0B-6004-3803-6213-E584DF3E2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A28A23-4838-C127-1906-308651812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ru-RU" dirty="0">
                <a:ea typeface="+mn-lt"/>
                <a:cs typeface="+mn-lt"/>
              </a:rPr>
              <a:t>Собрать и подготовить для модели </a:t>
            </a:r>
            <a:r>
              <a:rPr lang="ru-RU" dirty="0" err="1">
                <a:ea typeface="+mn-lt"/>
                <a:cs typeface="+mn-lt"/>
              </a:rPr>
              <a:t>датасет</a:t>
            </a:r>
            <a:r>
              <a:rPr lang="ru-RU" dirty="0">
                <a:ea typeface="+mn-lt"/>
                <a:cs typeface="+mn-lt"/>
              </a:rPr>
              <a:t> на 500 вопросов-</a:t>
            </a:r>
            <a:r>
              <a:rPr lang="ru-RU" dirty="0" err="1">
                <a:ea typeface="+mn-lt"/>
                <a:cs typeface="+mn-lt"/>
              </a:rPr>
              <a:t>sparql</a:t>
            </a:r>
            <a:r>
              <a:rPr lang="ru-RU" dirty="0">
                <a:ea typeface="+mn-lt"/>
                <a:cs typeface="+mn-lt"/>
              </a:rPr>
              <a:t> запросов.</a:t>
            </a:r>
          </a:p>
          <a:p>
            <a:pPr marL="383540" indent="-383540"/>
            <a:r>
              <a:rPr lang="ru-RU" dirty="0">
                <a:ea typeface="+mn-lt"/>
                <a:cs typeface="+mn-lt"/>
              </a:rPr>
              <a:t>Выбрать базовую модель для </a:t>
            </a:r>
            <a:r>
              <a:rPr lang="ru-RU" dirty="0" err="1">
                <a:ea typeface="+mn-lt"/>
                <a:cs typeface="+mn-lt"/>
              </a:rPr>
              <a:t>дообучения</a:t>
            </a:r>
            <a:r>
              <a:rPr lang="ru-RU" dirty="0">
                <a:ea typeface="+mn-lt"/>
                <a:cs typeface="+mn-lt"/>
              </a:rPr>
              <a:t> генерации </a:t>
            </a:r>
            <a:r>
              <a:rPr lang="en-US" dirty="0" err="1">
                <a:ea typeface="+mn-lt"/>
                <a:cs typeface="+mn-lt"/>
              </a:rPr>
              <a:t>sparql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ru-RU" dirty="0">
                <a:ea typeface="+mn-lt"/>
                <a:cs typeface="+mn-lt"/>
              </a:rPr>
              <a:t>запросов.</a:t>
            </a:r>
          </a:p>
          <a:p>
            <a:pPr marL="383540" indent="-383540"/>
            <a:r>
              <a:rPr lang="ru-RU" dirty="0">
                <a:ea typeface="+mn-lt"/>
                <a:cs typeface="+mn-lt"/>
              </a:rPr>
              <a:t>Настроить обучение модели.</a:t>
            </a:r>
          </a:p>
          <a:p>
            <a:pPr marL="383540" indent="-383540"/>
            <a:r>
              <a:rPr lang="ru-RU" dirty="0">
                <a:ea typeface="+mn-lt"/>
                <a:cs typeface="+mn-lt"/>
              </a:rPr>
              <a:t>Сравнить готовую и базовую модели.</a:t>
            </a:r>
          </a:p>
          <a:p>
            <a:pPr marL="383540" indent="-383540"/>
            <a:r>
              <a:rPr lang="ru-RU" dirty="0">
                <a:ea typeface="+mn-lt"/>
                <a:cs typeface="+mn-lt"/>
              </a:rPr>
              <a:t>Создать графический интерфейс.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1661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92D2F-B678-04AD-DBD2-137C0DBB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Создание датасета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79DE41-53BE-19AF-5EB6-8267DAE01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Основной источник данных :</a:t>
            </a:r>
          </a:p>
          <a:p>
            <a:pPr marL="383540" indent="-383540"/>
            <a:r>
              <a:rPr lang="ru-RU" dirty="0" err="1"/>
              <a:t>Wikidata</a:t>
            </a:r>
            <a:r>
              <a:rPr lang="ru-RU" dirty="0"/>
              <a:t> - свободная база знаний.</a:t>
            </a:r>
          </a:p>
          <a:p>
            <a:pPr marL="0" indent="0">
              <a:buNone/>
            </a:pPr>
            <a:r>
              <a:rPr lang="ru-RU" dirty="0"/>
              <a:t>Источники вдохновения:</a:t>
            </a:r>
          </a:p>
          <a:p>
            <a:r>
              <a:rPr lang="ru-RU" dirty="0"/>
              <a:t>Учебные материалы по SPARQL.</a:t>
            </a:r>
          </a:p>
          <a:p>
            <a:pPr marL="383540" indent="-383540"/>
            <a:r>
              <a:rPr lang="ru-RU" dirty="0"/>
              <a:t>Реальные запросы пользователей.</a:t>
            </a:r>
          </a:p>
        </p:txBody>
      </p:sp>
    </p:spTree>
    <p:extLst>
      <p:ext uri="{BB962C8B-B14F-4D97-AF65-F5344CB8AC3E}">
        <p14:creationId xmlns:p14="http://schemas.microsoft.com/office/powerpoint/2010/main" val="2275336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A4BB6F-B95B-75EF-E9A8-B5DEC1200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Базовые модели и их проблемы</a:t>
            </a:r>
          </a:p>
          <a:p>
            <a:endParaRPr lang="ru-RU" dirty="0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8DFA6B7E-A7AD-2D84-331F-8615DEA1A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210094"/>
              </p:ext>
            </p:extLst>
          </p:nvPr>
        </p:nvGraphicFramePr>
        <p:xfrm>
          <a:off x="1961624" y="2447817"/>
          <a:ext cx="8268752" cy="36487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43805">
                  <a:extLst>
                    <a:ext uri="{9D8B030D-6E8A-4147-A177-3AD203B41FA5}">
                      <a16:colId xmlns:a16="http://schemas.microsoft.com/office/drawing/2014/main" val="3492327469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17208315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76400145"/>
                    </a:ext>
                  </a:extLst>
                </a:gridCol>
                <a:gridCol w="1523999">
                  <a:extLst>
                    <a:ext uri="{9D8B030D-6E8A-4147-A177-3AD203B41FA5}">
                      <a16:colId xmlns:a16="http://schemas.microsoft.com/office/drawing/2014/main" val="3026589843"/>
                    </a:ext>
                  </a:extLst>
                </a:gridCol>
                <a:gridCol w="1689348">
                  <a:extLst>
                    <a:ext uri="{9D8B030D-6E8A-4147-A177-3AD203B41FA5}">
                      <a16:colId xmlns:a16="http://schemas.microsoft.com/office/drawing/2014/main" val="2715988217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2235899561"/>
                    </a:ext>
                  </a:extLst>
                </a:gridCol>
              </a:tblGrid>
              <a:tr h="55918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Модель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Размер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Hidden size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quote-cjk-patch"/>
                        </a:rPr>
                        <a:t>Количество слоев</a:t>
                      </a:r>
                      <a:endParaRPr lang="ru-RU" dirty="0"/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Плюсы</a:t>
                      </a:r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Минусы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220871"/>
                  </a:ext>
                </a:extLst>
              </a:tr>
              <a:tr h="905579"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quote-cjk-patch"/>
                        </a:rPr>
                        <a:t>Llama‑3.2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3B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3072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quote-cjk-patch"/>
                        </a:rPr>
                        <a:t>28</a:t>
                      </a:r>
                      <a:endParaRPr lang="ru-RU" dirty="0"/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Качество генерации</a:t>
                      </a:r>
                      <a:endParaRPr lang="ru-RU" dirty="0"/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Скорость, размер</a:t>
                      </a:r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991762"/>
                  </a:ext>
                </a:extLst>
              </a:tr>
              <a:tr h="67299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quote-cjk-patch"/>
                        </a:rPr>
                        <a:t>Qwen‑2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1.5B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1536</a:t>
                      </a:r>
                      <a:endParaRPr lang="ru-RU"/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quote-cjk-patch"/>
                        </a:rPr>
                        <a:t>28</a:t>
                      </a:r>
                      <a:endParaRPr lang="ru-RU"/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Качество генерации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quote-cjk-patch"/>
                        </a:rPr>
                        <a:t>Количество нейронов на слой</a:t>
                      </a:r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4272677"/>
                  </a:ext>
                </a:extLst>
              </a:tr>
              <a:tr h="101939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quote-cjk-patch"/>
                        </a:rPr>
                        <a:t>Phi‑2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2.7B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2560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sz="18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quote-cjk-patch"/>
                        </a:rPr>
                        <a:t>32</a:t>
                      </a:r>
                      <a:endParaRPr lang="ru-RU"/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quote-cjk-patch"/>
                        </a:rPr>
                        <a:t>Среднее между скоростью и качеством</a:t>
                      </a:r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ru-RU" sz="18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quote-cjk-patch"/>
                        </a:rPr>
                        <a:t>Плохое знание русского</a:t>
                      </a:r>
                    </a:p>
                  </a:txBody>
                  <a:tcPr marL="152399" marR="152399" marT="95249" marB="95249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8274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798D167-E2B3-44F0-D304-AA60EF2BE776}"/>
              </a:ext>
            </a:extLst>
          </p:cNvPr>
          <p:cNvSpPr txBox="1"/>
          <p:nvPr/>
        </p:nvSpPr>
        <p:spPr>
          <a:xfrm flipH="1">
            <a:off x="1373482" y="1718000"/>
            <a:ext cx="98201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Для 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дообучения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b="0" i="0" dirty="0" err="1">
                <a:latin typeface="quote-cjk-patch"/>
                <a:ea typeface="quote-cjk-patch"/>
                <a:cs typeface="quote-cjk-patch"/>
              </a:rPr>
              <a:t>рассматривались</a:t>
            </a:r>
            <a:r>
              <a:rPr lang="en-US" sz="2000" b="0" i="0" dirty="0">
                <a:latin typeface="quote-cjk-patch"/>
                <a:ea typeface="quote-cjk-patch"/>
                <a:cs typeface="quote-cjk-patch"/>
              </a:rPr>
              <a:t> </a:t>
            </a:r>
            <a:r>
              <a:rPr lang="en-US" sz="2000" i="0" dirty="0" err="1">
                <a:latin typeface="quote-cjk-patch"/>
                <a:ea typeface="quote-cjk-patch"/>
                <a:cs typeface="quote-cjk-patch"/>
              </a:rPr>
              <a:t>три</a:t>
            </a:r>
            <a:r>
              <a:rPr lang="en-US" sz="200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i="0" dirty="0" err="1">
                <a:latin typeface="quote-cjk-patch"/>
                <a:ea typeface="quote-cjk-patch"/>
                <a:cs typeface="quote-cjk-patch"/>
              </a:rPr>
              <a:t>языковые</a:t>
            </a:r>
            <a:r>
              <a:rPr lang="en-US" sz="2000" i="0" dirty="0">
                <a:latin typeface="quote-cjk-patch"/>
                <a:ea typeface="quote-cjk-patch"/>
                <a:cs typeface="quote-cjk-patch"/>
              </a:rPr>
              <a:t> </a:t>
            </a:r>
            <a:r>
              <a:rPr lang="en-US" sz="2000" i="0" dirty="0" err="1">
                <a:latin typeface="quote-cjk-patch"/>
                <a:ea typeface="quote-cjk-patch"/>
                <a:cs typeface="quote-cjk-patch"/>
              </a:rPr>
              <a:t>модели</a:t>
            </a:r>
            <a:r>
              <a:rPr lang="en-US" sz="2000" dirty="0">
                <a:latin typeface="quote-cjk-patch"/>
                <a:ea typeface="quote-cjk-patch"/>
                <a:cs typeface="quote-cjk-patch"/>
              </a:rPr>
              <a:t>:</a:t>
            </a:r>
            <a:endParaRPr lang="en-US" sz="2000" b="0" i="0" dirty="0">
              <a:latin typeface="quote-cjk-patch"/>
              <a:ea typeface="quote-cjk-patch"/>
              <a:cs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67628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70579-CA55-F249-5760-CEC1D5A54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финальной модели - Qwen‑2</a:t>
            </a:r>
          </a:p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0F60D8-3BDF-90E2-40F5-A998E8A47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dirty="0"/>
              <a:t>Почему выбрана она:</a:t>
            </a:r>
          </a:p>
          <a:p>
            <a:pPr marL="383540" indent="-383540"/>
            <a:r>
              <a:rPr lang="ru-RU" sz="2400" dirty="0"/>
              <a:t>Компактность.</a:t>
            </a:r>
          </a:p>
          <a:p>
            <a:pPr marL="383540" indent="-383540"/>
            <a:r>
              <a:rPr lang="ru-RU" sz="2400" dirty="0"/>
              <a:t>Скорость.</a:t>
            </a:r>
          </a:p>
        </p:txBody>
      </p:sp>
    </p:spTree>
    <p:extLst>
      <p:ext uri="{BB962C8B-B14F-4D97-AF65-F5344CB8AC3E}">
        <p14:creationId xmlns:p14="http://schemas.microsoft.com/office/powerpoint/2010/main" val="1762919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EAA145-DA75-3514-D478-B2EC78A2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ru-RU" dirty="0" err="1"/>
              <a:t>датасета</a:t>
            </a:r>
            <a:r>
              <a:rPr lang="ru-RU" dirty="0"/>
              <a:t>(сделать таблицу)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27F5612-42F0-591B-819D-B9AA1776BAD0}"/>
              </a:ext>
            </a:extLst>
          </p:cNvPr>
          <p:cNvSpPr txBox="1">
            <a:spLocks/>
          </p:cNvSpPr>
          <p:nvPr/>
        </p:nvSpPr>
        <p:spPr>
          <a:xfrm>
            <a:off x="1320800" y="1633220"/>
            <a:ext cx="9702800" cy="35915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500" dirty="0">
                <a:solidFill>
                  <a:srgbClr val="191B0E"/>
                </a:solidFill>
                <a:ea typeface="+mn-lt"/>
                <a:cs typeface="+mn-lt"/>
              </a:rPr>
              <a:t>{
 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 "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messages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": [
  {
        "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role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": "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user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",
        "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content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": "Кто написал картину «Утро в сосновом лесу»?"
     },
     {
        "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role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": "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assistant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",
        "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content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": "PREFIX 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wd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: &lt;http://www.wikidata.org/entity/&gt;\nPREFIX 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wdt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: &lt;http://www.wikidata.org/prop/direct/&gt;\n\nSELECT ?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answer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\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nWHERE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 {\nwd:Q2666439 wdt:P170 ?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answer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 .\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nSERVICE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wikibase:label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 { 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bd:serviceParam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wikibase:language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 \"</a:t>
            </a:r>
            <a:r>
              <a:rPr lang="ru-RU" sz="1500" dirty="0" err="1">
                <a:solidFill>
                  <a:schemeClr val="tx1"/>
                </a:solidFill>
                <a:ea typeface="+mn-lt"/>
                <a:cs typeface="+mn-lt"/>
              </a:rPr>
              <a:t>ru,en</a:t>
            </a:r>
            <a:r>
              <a:rPr lang="ru-RU" sz="1500" dirty="0">
                <a:solidFill>
                  <a:schemeClr val="tx1"/>
                </a:solidFill>
                <a:ea typeface="+mn-lt"/>
                <a:cs typeface="+mn-lt"/>
              </a:rPr>
              <a:t>\". }\n}"
     }
  ]
}</a:t>
            </a:r>
            <a:endParaRPr lang="ru-RU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083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023B38-F690-66AF-FF4A-F81B62CCD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Times New Roman"/>
                <a:cs typeface="Times New Roman"/>
              </a:rPr>
              <a:t>Параметры LoRA и обучения</a:t>
            </a:r>
            <a:endParaRPr lang="ru-RU"/>
          </a:p>
          <a:p>
            <a:endParaRPr lang="ru-RU" dirty="0">
              <a:latin typeface="Times New Roman"/>
              <a:cs typeface="Times New Roman"/>
            </a:endParaRP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16BC0E5F-E29B-58B6-F848-AF22F260B5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7787"/>
              </p:ext>
            </p:extLst>
          </p:nvPr>
        </p:nvGraphicFramePr>
        <p:xfrm>
          <a:off x="1371600" y="1432560"/>
          <a:ext cx="4856303" cy="509991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18768">
                  <a:extLst>
                    <a:ext uri="{9D8B030D-6E8A-4147-A177-3AD203B41FA5}">
                      <a16:colId xmlns:a16="http://schemas.microsoft.com/office/drawing/2014/main" val="1264459754"/>
                    </a:ext>
                  </a:extLst>
                </a:gridCol>
                <a:gridCol w="1407674">
                  <a:extLst>
                    <a:ext uri="{9D8B030D-6E8A-4147-A177-3AD203B41FA5}">
                      <a16:colId xmlns:a16="http://schemas.microsoft.com/office/drawing/2014/main" val="4146452860"/>
                    </a:ext>
                  </a:extLst>
                </a:gridCol>
                <a:gridCol w="1829861">
                  <a:extLst>
                    <a:ext uri="{9D8B030D-6E8A-4147-A177-3AD203B41FA5}">
                      <a16:colId xmlns:a16="http://schemas.microsoft.com/office/drawing/2014/main" val="2403844455"/>
                    </a:ext>
                  </a:extLst>
                </a:gridCol>
              </a:tblGrid>
              <a:tr h="4813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параметр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объяснение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598252"/>
                  </a:ext>
                </a:extLst>
              </a:tr>
              <a:tr h="10199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r (ранг)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количество обучаемых параметров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048883"/>
                  </a:ext>
                </a:extLst>
              </a:tr>
              <a:tr h="101998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lora_alpha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/>
                          <a:cs typeface="Times New Roman"/>
                        </a:rPr>
                        <a:t>64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коэффициент масштабирования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326758"/>
                  </a:ext>
                </a:extLst>
              </a:tr>
              <a:tr h="7563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lora_dropout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0.1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регуляризация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0067"/>
                  </a:ext>
                </a:extLst>
              </a:tr>
              <a:tr h="182221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target_modules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/>
                          <a:cs typeface="Times New Roman"/>
                        </a:rPr>
                        <a:t>q_proj, k_proj, v_proj, </a:t>
                      </a: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o_proj.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ru-RU" b="0" dirty="0" err="1">
                          <a:effectLst/>
                          <a:latin typeface="Times New Roman"/>
                          <a:cs typeface="Times New Roman"/>
                        </a:rPr>
                        <a:t>ttention</a:t>
                      </a:r>
                      <a:r>
                        <a:rPr lang="ru-RU" b="0" dirty="0">
                          <a:effectLst/>
                          <a:latin typeface="Times New Roman"/>
                          <a:cs typeface="Times New Roman"/>
                        </a:rPr>
                        <a:t> слои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566183"/>
                  </a:ext>
                </a:extLst>
              </a:tr>
            </a:tbl>
          </a:graphicData>
        </a:graphic>
      </p:graphicFrame>
      <p:graphicFrame>
        <p:nvGraphicFramePr>
          <p:cNvPr id="11" name="Объект 9">
            <a:extLst>
              <a:ext uri="{FF2B5EF4-FFF2-40B4-BE49-F238E27FC236}">
                <a16:creationId xmlns:a16="http://schemas.microsoft.com/office/drawing/2014/main" id="{E2D4813A-C4BD-B2F2-161E-0F72B45210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5734206"/>
              </p:ext>
            </p:extLst>
          </p:nvPr>
        </p:nvGraphicFramePr>
        <p:xfrm>
          <a:off x="6532880" y="1422400"/>
          <a:ext cx="4978397" cy="50234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59466">
                  <a:extLst>
                    <a:ext uri="{9D8B030D-6E8A-4147-A177-3AD203B41FA5}">
                      <a16:colId xmlns:a16="http://schemas.microsoft.com/office/drawing/2014/main" val="154886284"/>
                    </a:ext>
                  </a:extLst>
                </a:gridCol>
                <a:gridCol w="1269999">
                  <a:extLst>
                    <a:ext uri="{9D8B030D-6E8A-4147-A177-3AD203B41FA5}">
                      <a16:colId xmlns:a16="http://schemas.microsoft.com/office/drawing/2014/main" val="82344553"/>
                    </a:ext>
                  </a:extLst>
                </a:gridCol>
                <a:gridCol w="2048932">
                  <a:extLst>
                    <a:ext uri="{9D8B030D-6E8A-4147-A177-3AD203B41FA5}">
                      <a16:colId xmlns:a16="http://schemas.microsoft.com/office/drawing/2014/main" val="3505862214"/>
                    </a:ext>
                  </a:extLst>
                </a:gridCol>
              </a:tblGrid>
              <a:tr h="39013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параметр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объяснение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124163"/>
                  </a:ext>
                </a:extLst>
              </a:tr>
              <a:tr h="6130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num_train_epochs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количество эпох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640622"/>
                  </a:ext>
                </a:extLst>
              </a:tr>
              <a:tr h="6130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per_device_batch_size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размер батча на устройство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25005"/>
                  </a:ext>
                </a:extLst>
              </a:tr>
              <a:tr h="6130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gradient_accumulation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8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накопление градиентов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831902"/>
                  </a:ext>
                </a:extLst>
              </a:tr>
              <a:tr h="6130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learning_rate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ru-RU" sz="1800" b="0" i="0" u="none" strike="noStrike" noProof="0" dirty="0">
                          <a:effectLst/>
                          <a:latin typeface="Times New Roman"/>
                          <a:cs typeface="Times New Roman"/>
                        </a:rPr>
                        <a:t>1e-4</a:t>
                      </a:r>
                      <a:endParaRPr lang="ru-RU" b="0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скорость обучения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226846"/>
                  </a:ext>
                </a:extLst>
              </a:tr>
              <a:tr h="6130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warmup_ratio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/>
                          <a:cs typeface="Times New Roman"/>
                        </a:rPr>
                        <a:t>0.15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разогрев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818537"/>
                  </a:ext>
                </a:extLst>
              </a:tr>
              <a:tr h="6130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weight_decay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/>
                          <a:cs typeface="Times New Roman"/>
                        </a:rPr>
                        <a:t>0.05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>
                          <a:effectLst/>
                          <a:latin typeface="Times New Roman"/>
                          <a:cs typeface="Times New Roman"/>
                        </a:rPr>
                        <a:t>L2-регуляризация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0427345"/>
                  </a:ext>
                </a:extLst>
              </a:tr>
              <a:tr h="61307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1">
                          <a:effectLst/>
                          <a:latin typeface="Times New Roman"/>
                          <a:cs typeface="Times New Roman"/>
                        </a:rPr>
                        <a:t>max_grad_norm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/>
                          <a:cs typeface="Times New Roman"/>
                        </a:rPr>
                        <a:t>0.3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ru-RU" b="0" dirty="0">
                          <a:effectLst/>
                          <a:latin typeface="Times New Roman"/>
                          <a:cs typeface="Times New Roman"/>
                        </a:rPr>
                        <a:t>обрезание градиентов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233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997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F1F46-A4BC-718F-68EA-4C21B97B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Динамика</a:t>
            </a:r>
            <a:br>
              <a:rPr lang="ru-RU" dirty="0"/>
            </a:br>
            <a:r>
              <a:rPr lang="ru-RU" dirty="0"/>
              <a:t>обучения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6612B-159B-37E3-F8A4-9EEA5195BE3E}"/>
              </a:ext>
            </a:extLst>
          </p:cNvPr>
          <p:cNvSpPr txBox="1"/>
          <p:nvPr/>
        </p:nvSpPr>
        <p:spPr>
          <a:xfrm>
            <a:off x="1371600" y="2286000"/>
            <a:ext cx="3282694" cy="35814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83540" indent="-383540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en-US" dirty="0" err="1">
                <a:solidFill>
                  <a:schemeClr val="tx2"/>
                </a:solidFill>
              </a:rPr>
              <a:t>Начальный</a:t>
            </a:r>
            <a:r>
              <a:rPr lang="en-US" dirty="0">
                <a:solidFill>
                  <a:schemeClr val="tx2"/>
                </a:solidFill>
              </a:rPr>
              <a:t> loss: 1.</a:t>
            </a:r>
            <a:r>
              <a:rPr lang="ru-RU" dirty="0">
                <a:solidFill>
                  <a:schemeClr val="tx2"/>
                </a:solidFill>
              </a:rPr>
              <a:t>88</a:t>
            </a:r>
          </a:p>
          <a:p>
            <a:pPr marL="383540" indent="-383540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en-US" dirty="0" err="1">
                <a:solidFill>
                  <a:schemeClr val="tx2"/>
                </a:solidFill>
              </a:rPr>
              <a:t>Финальный</a:t>
            </a:r>
            <a:r>
              <a:rPr lang="en-US" dirty="0">
                <a:solidFill>
                  <a:schemeClr val="tx2"/>
                </a:solidFill>
              </a:rPr>
              <a:t> loss: 0.3</a:t>
            </a:r>
            <a:r>
              <a:rPr lang="ru-RU" dirty="0">
                <a:solidFill>
                  <a:schemeClr val="tx2"/>
                </a:solidFill>
              </a:rPr>
              <a:t>1</a:t>
            </a:r>
            <a:endParaRPr lang="en-US" dirty="0">
              <a:solidFill>
                <a:schemeClr val="tx2"/>
              </a:solidFill>
            </a:endParaRPr>
          </a:p>
          <a:p>
            <a:pPr marL="383540" indent="-383540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en-US" dirty="0" err="1">
                <a:solidFill>
                  <a:schemeClr val="tx2"/>
                </a:solidFill>
              </a:rPr>
              <a:t>Снижение</a:t>
            </a:r>
            <a:r>
              <a:rPr lang="en-US" dirty="0">
                <a:solidFill>
                  <a:schemeClr val="tx2"/>
                </a:solidFill>
              </a:rPr>
              <a:t>: ~83.7% </a:t>
            </a:r>
            <a:endParaRPr lang="ru-RU" dirty="0">
              <a:solidFill>
                <a:schemeClr val="tx2"/>
              </a:solidFill>
            </a:endParaRPr>
          </a:p>
          <a:p>
            <a:pPr marL="383540" indent="-383540" defTabSz="914400">
              <a:lnSpc>
                <a:spcPct val="94000"/>
              </a:lnSpc>
              <a:spcAft>
                <a:spcPts val="200"/>
              </a:spcAft>
              <a:buFont typeface="Franklin Gothic Book" panose="020B0503020102020204" pitchFamily="34" charset="0"/>
            </a:pPr>
            <a:r>
              <a:rPr lang="ru-RU" dirty="0">
                <a:solidFill>
                  <a:schemeClr val="tx2"/>
                </a:solidFill>
              </a:rPr>
              <a:t>Время обучения: 80 м.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489D6A0-D7BB-46AC-88D5-E020C251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859" y="1428982"/>
            <a:ext cx="7656246" cy="384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53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02F78-E9C6-B93C-E6C7-3EB5C664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4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9B5F1-B529-138E-A541-247ADF28E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ru-RU" dirty="0" err="1"/>
              <a:t>Промпт</a:t>
            </a:r>
            <a:endParaRPr lang="ru-RU" dirty="0"/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2C3821-B863-EB84-CCCD-0614E4459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2" y="1194179"/>
            <a:ext cx="3030184" cy="5020353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PARAMETER temperature 0.8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PARAMETER </a:t>
            </a:r>
            <a:r>
              <a:rPr lang="en-US" sz="1200" dirty="0" err="1">
                <a:ea typeface="+mn-lt"/>
                <a:cs typeface="+mn-lt"/>
              </a:rPr>
              <a:t>top_p</a:t>
            </a:r>
            <a:r>
              <a:rPr lang="en-US" sz="1200" dirty="0">
                <a:ea typeface="+mn-lt"/>
                <a:cs typeface="+mn-lt"/>
              </a:rPr>
              <a:t> 0.9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PARAMETER </a:t>
            </a:r>
            <a:r>
              <a:rPr lang="en-US" sz="1200" dirty="0" err="1">
                <a:ea typeface="+mn-lt"/>
                <a:cs typeface="+mn-lt"/>
              </a:rPr>
              <a:t>num_predict</a:t>
            </a:r>
            <a:r>
              <a:rPr lang="en-US" sz="1200" dirty="0">
                <a:ea typeface="+mn-lt"/>
                <a:cs typeface="+mn-lt"/>
              </a:rPr>
              <a:t> 256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PARAMETER </a:t>
            </a:r>
            <a:r>
              <a:rPr lang="en-US" sz="1200" dirty="0" err="1">
                <a:ea typeface="+mn-lt"/>
                <a:cs typeface="+mn-lt"/>
              </a:rPr>
              <a:t>repeat_penalty</a:t>
            </a:r>
            <a:r>
              <a:rPr lang="en-US" sz="1200" dirty="0">
                <a:ea typeface="+mn-lt"/>
                <a:cs typeface="+mn-lt"/>
              </a:rPr>
              <a:t> 1.2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PARAMETER stop "###"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PARAMETER stop "User:"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PARAMETER stop "Assistant:"</a:t>
            </a:r>
          </a:p>
          <a:p>
            <a:pPr marL="0" indent="0">
              <a:buNone/>
            </a:pPr>
            <a:endParaRPr lang="en-US" sz="1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TEMPLATE """### User: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{{ .Prompt }}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### Assistant: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"""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E7886-B124-4471-B755-CEB6E1B7F020}"/>
              </a:ext>
            </a:extLst>
          </p:cNvPr>
          <p:cNvSpPr txBox="1"/>
          <p:nvPr/>
        </p:nvSpPr>
        <p:spPr>
          <a:xfrm>
            <a:off x="8085564" y="1194179"/>
            <a:ext cx="3851365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SYSTEM """</a:t>
            </a:r>
          </a:p>
          <a:p>
            <a:pPr marL="0" indent="0">
              <a:buNone/>
            </a:pPr>
            <a:r>
              <a:rPr lang="ru-RU" sz="1200" dirty="0">
                <a:ea typeface="+mn-lt"/>
                <a:cs typeface="+mn-lt"/>
              </a:rPr>
              <a:t>Ты - эксперт по </a:t>
            </a:r>
            <a:r>
              <a:rPr lang="en-US" sz="1200" dirty="0" err="1">
                <a:ea typeface="+mn-lt"/>
                <a:cs typeface="+mn-lt"/>
              </a:rPr>
              <a:t>Wikidata</a:t>
            </a:r>
            <a:r>
              <a:rPr lang="en-US" sz="1200" dirty="0">
                <a:ea typeface="+mn-lt"/>
                <a:cs typeface="+mn-lt"/>
              </a:rPr>
              <a:t>. </a:t>
            </a:r>
            <a:r>
              <a:rPr lang="ru-RU" sz="1200" dirty="0">
                <a:ea typeface="+mn-lt"/>
                <a:cs typeface="+mn-lt"/>
              </a:rPr>
              <a:t>Генерируй ТОЛЬКО </a:t>
            </a:r>
            <a:r>
              <a:rPr lang="en-US" sz="1200" dirty="0">
                <a:ea typeface="+mn-lt"/>
                <a:cs typeface="+mn-lt"/>
              </a:rPr>
              <a:t>SPARQL </a:t>
            </a:r>
            <a:r>
              <a:rPr lang="ru-RU" sz="1200" dirty="0">
                <a:ea typeface="+mn-lt"/>
                <a:cs typeface="+mn-lt"/>
              </a:rPr>
              <a:t>запросы.</a:t>
            </a:r>
          </a:p>
          <a:p>
            <a:pPr marL="0" indent="0">
              <a:buNone/>
            </a:pPr>
            <a:endParaRPr lang="ru-RU" sz="1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ru-RU" sz="1200" dirty="0">
                <a:ea typeface="+mn-lt"/>
                <a:cs typeface="+mn-lt"/>
              </a:rPr>
              <a:t>ПРАВИЛА:</a:t>
            </a:r>
          </a:p>
          <a:p>
            <a:pPr marL="0" indent="0">
              <a:buNone/>
            </a:pPr>
            <a:r>
              <a:rPr lang="ru-RU" sz="1200" dirty="0">
                <a:ea typeface="+mn-lt"/>
                <a:cs typeface="+mn-lt"/>
              </a:rPr>
              <a:t>1. Всегда используй эти префиксы:</a:t>
            </a:r>
          </a:p>
          <a:p>
            <a:pPr marL="0" indent="0">
              <a:buNone/>
            </a:pPr>
            <a:r>
              <a:rPr lang="ru-RU" sz="1200" dirty="0">
                <a:ea typeface="+mn-lt"/>
                <a:cs typeface="+mn-lt"/>
              </a:rPr>
              <a:t>   </a:t>
            </a:r>
            <a:r>
              <a:rPr lang="en-US" sz="1200" dirty="0">
                <a:ea typeface="+mn-lt"/>
                <a:cs typeface="+mn-lt"/>
              </a:rPr>
              <a:t>PREFIX wd: &lt;http://www.wikidata.org/entity/&gt;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   PREFIX </a:t>
            </a:r>
            <a:r>
              <a:rPr lang="en-US" sz="1200" dirty="0" err="1">
                <a:ea typeface="+mn-lt"/>
                <a:cs typeface="+mn-lt"/>
              </a:rPr>
              <a:t>wdt</a:t>
            </a:r>
            <a:r>
              <a:rPr lang="en-US" sz="1200" dirty="0">
                <a:ea typeface="+mn-lt"/>
                <a:cs typeface="+mn-lt"/>
              </a:rPr>
              <a:t>: &lt;http://www.wikidata.org/prop/direct/&gt;</a:t>
            </a:r>
          </a:p>
          <a:p>
            <a:pPr marL="0" indent="0">
              <a:buNone/>
            </a:pPr>
            <a:endParaRPr lang="en-US" sz="1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2. </a:t>
            </a:r>
            <a:r>
              <a:rPr lang="ru-RU" sz="1200" dirty="0">
                <a:ea typeface="+mn-lt"/>
                <a:cs typeface="+mn-lt"/>
              </a:rPr>
              <a:t>Формат запроса:</a:t>
            </a:r>
          </a:p>
          <a:p>
            <a:pPr marL="0" indent="0">
              <a:buNone/>
            </a:pPr>
            <a:r>
              <a:rPr lang="ru-RU" sz="1200" dirty="0">
                <a:ea typeface="+mn-lt"/>
                <a:cs typeface="+mn-lt"/>
              </a:rPr>
              <a:t>   </a:t>
            </a:r>
            <a:r>
              <a:rPr lang="en-US" sz="1200" dirty="0">
                <a:ea typeface="+mn-lt"/>
                <a:cs typeface="+mn-lt"/>
              </a:rPr>
              <a:t>SELECT ?answer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   WHERE {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     </a:t>
            </a:r>
            <a:r>
              <a:rPr lang="en-US" sz="1200" dirty="0" err="1">
                <a:ea typeface="+mn-lt"/>
                <a:cs typeface="+mn-lt"/>
              </a:rPr>
              <a:t>wd:Q</a:t>
            </a:r>
            <a:r>
              <a:rPr lang="en-US" sz="1200" dirty="0">
                <a:ea typeface="+mn-lt"/>
                <a:cs typeface="+mn-lt"/>
              </a:rPr>
              <a:t>... </a:t>
            </a:r>
            <a:r>
              <a:rPr lang="en-US" sz="1200" dirty="0" err="1">
                <a:ea typeface="+mn-lt"/>
                <a:cs typeface="+mn-lt"/>
              </a:rPr>
              <a:t>wdt:P</a:t>
            </a:r>
            <a:r>
              <a:rPr lang="en-US" sz="1200" dirty="0">
                <a:ea typeface="+mn-lt"/>
                <a:cs typeface="+mn-lt"/>
              </a:rPr>
              <a:t>... ?answer .</a:t>
            </a: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   }</a:t>
            </a:r>
          </a:p>
          <a:p>
            <a:pPr marL="0" indent="0">
              <a:buNone/>
            </a:pPr>
            <a:endParaRPr lang="en-US" sz="12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3. </a:t>
            </a:r>
            <a:r>
              <a:rPr lang="ru-RU" sz="1200" dirty="0">
                <a:ea typeface="+mn-lt"/>
                <a:cs typeface="+mn-lt"/>
              </a:rPr>
              <a:t>НИКОГДА не добавляй пояснения. Только </a:t>
            </a:r>
            <a:r>
              <a:rPr lang="en-US" sz="1200" dirty="0">
                <a:ea typeface="+mn-lt"/>
                <a:cs typeface="+mn-lt"/>
              </a:rPr>
              <a:t>SPARQL </a:t>
            </a:r>
            <a:r>
              <a:rPr lang="ru-RU" sz="1200" dirty="0">
                <a:ea typeface="+mn-lt"/>
                <a:cs typeface="+mn-lt"/>
              </a:rPr>
              <a:t>запрос.</a:t>
            </a:r>
          </a:p>
          <a:p>
            <a:pPr marL="0" indent="0">
              <a:buNone/>
            </a:pPr>
            <a:r>
              <a:rPr lang="ru-RU" sz="1200" dirty="0">
                <a:ea typeface="+mn-lt"/>
                <a:cs typeface="+mn-lt"/>
              </a:rPr>
              <a:t>"""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1869513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10B1B-347C-4B64-B21F-ABD4AF0A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ru-RU" sz="3400"/>
              <a:t>Базовая </a:t>
            </a:r>
            <a:r>
              <a:rPr lang="en-US" sz="3400"/>
              <a:t>vs </a:t>
            </a:r>
            <a:r>
              <a:rPr lang="ru-RU" sz="3400" err="1"/>
              <a:t>Дообученная</a:t>
            </a:r>
            <a:r>
              <a:rPr lang="ru-RU" sz="3400"/>
              <a:t>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25E327-C9BE-476E-82F3-78C040E94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Результаты тестирования:</a:t>
            </a:r>
          </a:p>
          <a:p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2BB4C2E2-416B-441A-83FD-D444AC64C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194784"/>
              </p:ext>
            </p:extLst>
          </p:nvPr>
        </p:nvGraphicFramePr>
        <p:xfrm>
          <a:off x="5355973" y="1216913"/>
          <a:ext cx="6202350" cy="4685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895">
                  <a:extLst>
                    <a:ext uri="{9D8B030D-6E8A-4147-A177-3AD203B41FA5}">
                      <a16:colId xmlns:a16="http://schemas.microsoft.com/office/drawing/2014/main" val="3363873692"/>
                    </a:ext>
                  </a:extLst>
                </a:gridCol>
                <a:gridCol w="2158557">
                  <a:extLst>
                    <a:ext uri="{9D8B030D-6E8A-4147-A177-3AD203B41FA5}">
                      <a16:colId xmlns:a16="http://schemas.microsoft.com/office/drawing/2014/main" val="1674605879"/>
                    </a:ext>
                  </a:extLst>
                </a:gridCol>
                <a:gridCol w="1968898">
                  <a:extLst>
                    <a:ext uri="{9D8B030D-6E8A-4147-A177-3AD203B41FA5}">
                      <a16:colId xmlns:a16="http://schemas.microsoft.com/office/drawing/2014/main" val="1510214800"/>
                    </a:ext>
                  </a:extLst>
                </a:gridCol>
              </a:tblGrid>
              <a:tr h="1129866">
                <a:tc>
                  <a:txBody>
                    <a:bodyPr/>
                    <a:lstStyle/>
                    <a:p>
                      <a:pPr algn="l"/>
                      <a:endParaRPr lang="ru-RU" sz="2000" b="0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02096" marR="136128" marT="85080" marB="8508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Базовая модель (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Qwen2-1.5B)</a:t>
                      </a:r>
                    </a:p>
                  </a:txBody>
                  <a:tcPr marL="136128" marR="136128" marT="85080" marB="8508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Дообученная модель (</a:t>
                      </a: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qwen-sparql999)</a:t>
                      </a:r>
                    </a:p>
                  </a:txBody>
                  <a:tcPr marL="136128" marR="136128" marT="85080" marB="8508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847505"/>
                  </a:ext>
                </a:extLst>
              </a:tr>
              <a:tr h="517288"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quote-cjk-patch"/>
                        </a:rPr>
                        <a:t>Всего запросов</a:t>
                      </a:r>
                    </a:p>
                  </a:txBody>
                  <a:tcPr marL="102096" marR="136128" marT="85080" marB="8508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quote-cjk-patch"/>
                        </a:rPr>
                        <a:t>76</a:t>
                      </a:r>
                    </a:p>
                  </a:txBody>
                  <a:tcPr marL="136128" marR="136128" marT="85080" marB="8508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quote-cjk-patch"/>
                        </a:rPr>
                        <a:t>76</a:t>
                      </a:r>
                    </a:p>
                  </a:txBody>
                  <a:tcPr marL="136128" marR="102096" marT="85080" marB="8508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845767"/>
                  </a:ext>
                </a:extLst>
              </a:tr>
              <a:tr h="823577"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quote-cjk-patch"/>
                        </a:rPr>
                        <a:t>Синтаксически корректные запросы</a:t>
                      </a:r>
                    </a:p>
                  </a:txBody>
                  <a:tcPr marL="102096" marR="136128" marT="85080" marB="8508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quote-cjk-patch"/>
                        </a:rPr>
                        <a:t>0 (0%)</a:t>
                      </a:r>
                    </a:p>
                  </a:txBody>
                  <a:tcPr marL="136128" marR="136128" marT="85080" marB="8508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quote-cjk-patch"/>
                        </a:rPr>
                        <a:t>7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2</a:t>
                      </a:r>
                      <a:r>
                        <a:rPr lang="ru-RU" sz="2000" b="0">
                          <a:effectLst/>
                          <a:latin typeface="quote-cjk-patch"/>
                        </a:rPr>
                        <a:t> (9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4</a:t>
                      </a:r>
                      <a:r>
                        <a:rPr lang="ru-RU" sz="2000" b="0">
                          <a:effectLst/>
                          <a:latin typeface="quote-cjk-patch"/>
                        </a:rPr>
                        <a:t>.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7</a:t>
                      </a:r>
                      <a:r>
                        <a:rPr lang="ru-RU" sz="2000" b="0">
                          <a:effectLst/>
                          <a:latin typeface="quote-cjk-patch"/>
                        </a:rPr>
                        <a:t>%)</a:t>
                      </a:r>
                    </a:p>
                  </a:txBody>
                  <a:tcPr marL="136128" marR="102096" marT="85080" marB="8508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880322"/>
                  </a:ext>
                </a:extLst>
              </a:tr>
              <a:tr h="1129866"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quote-cjk-patch"/>
                        </a:rPr>
                        <a:t>Синтаксически некорректные запросы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102096" marR="136128" marT="85080" marB="8508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quote-cjk-patch"/>
                        </a:rPr>
                        <a:t>76 (100%)</a:t>
                      </a:r>
                    </a:p>
                  </a:txBody>
                  <a:tcPr marL="136128" marR="136128" marT="85080" marB="8508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quote-cjk-patch"/>
                        </a:rPr>
                        <a:t>4</a:t>
                      </a:r>
                      <a:r>
                        <a:rPr lang="ru-RU" sz="2000" b="0" dirty="0">
                          <a:effectLst/>
                          <a:latin typeface="quote-cjk-patch"/>
                        </a:rPr>
                        <a:t> (</a:t>
                      </a:r>
                      <a:r>
                        <a:rPr lang="en-US" sz="2000" b="0" dirty="0">
                          <a:effectLst/>
                          <a:latin typeface="quote-cjk-patch"/>
                        </a:rPr>
                        <a:t>5</a:t>
                      </a:r>
                      <a:r>
                        <a:rPr lang="ru-RU" sz="2000" b="0" dirty="0">
                          <a:effectLst/>
                          <a:latin typeface="quote-cjk-patch"/>
                        </a:rPr>
                        <a:t>.</a:t>
                      </a:r>
                      <a:r>
                        <a:rPr lang="en-US" sz="2000" b="0" dirty="0">
                          <a:effectLst/>
                          <a:latin typeface="quote-cjk-patch"/>
                        </a:rPr>
                        <a:t>3</a:t>
                      </a:r>
                      <a:r>
                        <a:rPr lang="ru-RU" sz="2000" b="0" dirty="0">
                          <a:effectLst/>
                          <a:latin typeface="quote-cjk-patch"/>
                        </a:rPr>
                        <a:t>%)</a:t>
                      </a:r>
                    </a:p>
                  </a:txBody>
                  <a:tcPr marL="136128" marR="102096" marT="85080" marB="8508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437118"/>
                  </a:ext>
                </a:extLst>
              </a:tr>
              <a:tr h="823577"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quote-cjk-patch"/>
                        </a:rPr>
                        <a:t>Среднее время ответа</a:t>
                      </a:r>
                    </a:p>
                  </a:txBody>
                  <a:tcPr marL="102096" marR="136128" marT="85080" marB="8508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>
                          <a:effectLst/>
                          <a:latin typeface="quote-cjk-patch"/>
                        </a:rPr>
                        <a:t>0.56 с</a:t>
                      </a:r>
                    </a:p>
                  </a:txBody>
                  <a:tcPr marL="136128" marR="136128" marT="85080" marB="8508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0" dirty="0">
                          <a:effectLst/>
                          <a:latin typeface="quote-cjk-patch"/>
                        </a:rPr>
                        <a:t>2.</a:t>
                      </a:r>
                      <a:r>
                        <a:rPr lang="en-US" sz="2000" b="0" dirty="0">
                          <a:effectLst/>
                          <a:latin typeface="quote-cjk-patch"/>
                        </a:rPr>
                        <a:t>23</a:t>
                      </a:r>
                      <a:r>
                        <a:rPr lang="ru-RU" sz="2000" b="0" dirty="0">
                          <a:effectLst/>
                          <a:latin typeface="quote-cjk-patch"/>
                        </a:rPr>
                        <a:t> с</a:t>
                      </a:r>
                    </a:p>
                  </a:txBody>
                  <a:tcPr marL="136128" marR="102096" marT="85080" marB="8508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007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757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F3521-BF59-4400-97AA-1BD61462F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МЕТРИКИ КАЧЕСТВА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0C4DCA-9B62-4F50-9DA9-04FBC602D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73580"/>
            <a:ext cx="9601200" cy="51054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Результаты тестирования на отложенной выборке из 76 запросов:</a:t>
            </a:r>
          </a:p>
        </p:txBody>
      </p:sp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245EDBE7-7FB5-4C4D-8176-88247867A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137248"/>
              </p:ext>
            </p:extLst>
          </p:nvPr>
        </p:nvGraphicFramePr>
        <p:xfrm>
          <a:off x="1371600" y="2491740"/>
          <a:ext cx="812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4200308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89507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Метрика</a:t>
                      </a: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Значение</a:t>
                      </a:r>
                      <a:endParaRPr lang="ru-RU" b="1" dirty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515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Синтаксически корректные запросы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72/76 (9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4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.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7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%)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669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Точное совпадение с эталоном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0/70 (0%)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948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Среднее время генерации</a:t>
                      </a:r>
                      <a:endParaRPr lang="ru-RU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2.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23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 секунды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721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quote-cjk-patch"/>
                        </a:rPr>
                        <a:t>Потребление видеопамяти (4-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bit)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~1.1 ГБ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938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quote-cjk-patch"/>
                        </a:rPr>
                        <a:t>Размер </a:t>
                      </a:r>
                      <a:r>
                        <a:rPr lang="en-US" b="1" dirty="0" err="1">
                          <a:effectLst/>
                          <a:latin typeface="quote-cjk-patch"/>
                        </a:rPr>
                        <a:t>LoRA</a:t>
                      </a:r>
                      <a:r>
                        <a:rPr lang="en-US" b="1" dirty="0">
                          <a:effectLst/>
                          <a:latin typeface="quote-cjk-patch"/>
                        </a:rPr>
                        <a:t>-</a:t>
                      </a:r>
                      <a:r>
                        <a:rPr lang="ru-RU" b="1" dirty="0">
                          <a:effectLst/>
                          <a:latin typeface="quote-cjk-patch"/>
                        </a:rPr>
                        <a:t>адаптера</a:t>
                      </a:r>
                      <a:endParaRPr lang="ru-RU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44.1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 МБ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93575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86C705F-71DB-4E4B-BA2A-8F1E88718462}"/>
              </a:ext>
            </a:extLst>
          </p:cNvPr>
          <p:cNvSpPr txBox="1"/>
          <p:nvPr/>
        </p:nvSpPr>
        <p:spPr>
          <a:xfrm>
            <a:off x="1371600" y="5219700"/>
            <a:ext cx="952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Вывод: Модель успешно освоила синтаксис SPARQL, но требует расширения </a:t>
            </a:r>
            <a:r>
              <a:rPr lang="ru-RU" sz="2000" dirty="0" err="1"/>
              <a:t>датасета</a:t>
            </a:r>
            <a:r>
              <a:rPr lang="ru-RU" sz="2000" dirty="0"/>
              <a:t> для запоминания корректных идентификаторов сущностей и свойств.</a:t>
            </a:r>
          </a:p>
        </p:txBody>
      </p:sp>
    </p:spTree>
    <p:extLst>
      <p:ext uri="{BB962C8B-B14F-4D97-AF65-F5344CB8AC3E}">
        <p14:creationId xmlns:p14="http://schemas.microsoft.com/office/powerpoint/2010/main" val="3166375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32E17-52E6-549A-FA18-9517B1F0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Результаты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B8D826-4849-492B-1138-190D8971F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ru-RU" dirty="0"/>
              <a:t>Размечено 457 пар «вопрос–SPARQL-запрос».</a:t>
            </a:r>
          </a:p>
          <a:p>
            <a:pPr marL="342900" indent="-342900"/>
            <a:r>
              <a:rPr lang="ru-RU" dirty="0"/>
              <a:t>Выбрана базовая модель Qwen-2.</a:t>
            </a:r>
          </a:p>
          <a:p>
            <a:pPr marL="342900" indent="-342900"/>
            <a:r>
              <a:rPr lang="ru-RU" dirty="0"/>
              <a:t>Настроено обучение модели.</a:t>
            </a:r>
          </a:p>
          <a:p>
            <a:pPr marL="342900" indent="-342900"/>
            <a:r>
              <a:rPr lang="ru-RU" dirty="0"/>
              <a:t>Сравнены базовая и обученная модели.</a:t>
            </a:r>
          </a:p>
          <a:p>
            <a:pPr marL="342900" indent="-342900"/>
            <a:r>
              <a:rPr lang="ru-RU" dirty="0"/>
              <a:t>Обученная модель выдает синтаксически правильные запросы в </a:t>
            </a:r>
            <a:r>
              <a:rPr lang="en-US" dirty="0"/>
              <a:t>95</a:t>
            </a:r>
            <a:r>
              <a:rPr lang="ru-RU" dirty="0"/>
              <a:t>% случаев.</a:t>
            </a:r>
          </a:p>
          <a:p>
            <a:pPr marL="342900" indent="-342900"/>
            <a:r>
              <a:rPr lang="ru-RU" dirty="0"/>
              <a:t>Создан графический интерфейс</a:t>
            </a:r>
          </a:p>
          <a:p>
            <a:pPr marL="342900" indent="-342900"/>
            <a:r>
              <a:rPr lang="ru-RU" dirty="0"/>
              <a:t>Работает на CPU и слабых GPU.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9321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F2800-E1F6-5B3C-0790-66362583E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4186" y="634028"/>
            <a:ext cx="3355942" cy="3732835"/>
          </a:xfrm>
        </p:spPr>
        <p:txBody>
          <a:bodyPr>
            <a:normAutofit/>
          </a:bodyPr>
          <a:lstStyle/>
          <a:p>
            <a:r>
              <a:rPr lang="ru-RU" sz="4200"/>
              <a:t>Спасибо за внимание!</a:t>
            </a: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FEA209-C008-DF7E-4686-197677023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79" y="1340841"/>
            <a:ext cx="4375510" cy="43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811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C02F78-E9C6-B93C-E6C7-3EB5C664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4">
            <a:extLst>
              <a:ext uri="{FF2B5EF4-FFF2-40B4-BE49-F238E27FC236}">
                <a16:creationId xmlns:a16="http://schemas.microsoft.com/office/drawing/2014/main" id="{7C159B63-C56D-4E4E-8B07-40A1346D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9B5F1-B529-138E-A541-247ADF28E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02" y="1194180"/>
            <a:ext cx="3523938" cy="5020353"/>
          </a:xfrm>
        </p:spPr>
        <p:txBody>
          <a:bodyPr>
            <a:normAutofit/>
          </a:bodyPr>
          <a:lstStyle/>
          <a:p>
            <a:r>
              <a:rPr lang="ru-RU" dirty="0" err="1"/>
              <a:t>Промпт</a:t>
            </a:r>
            <a:r>
              <a:rPr lang="ru-RU" dirty="0"/>
              <a:t> - начальный</a:t>
            </a:r>
          </a:p>
        </p:txBody>
      </p:sp>
      <p:sp>
        <p:nvSpPr>
          <p:cNvPr id="24" name="Rectangle 16">
            <a:extLst>
              <a:ext uri="{FF2B5EF4-FFF2-40B4-BE49-F238E27FC236}">
                <a16:creationId xmlns:a16="http://schemas.microsoft.com/office/drawing/2014/main" id="{27DEF201-077E-444A-A3F0-66E142535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2C3821-B863-EB84-CCCD-0614E4459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541" y="1194179"/>
            <a:ext cx="6114847" cy="50203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sz="2400" dirty="0">
                <a:ea typeface="+mn-lt"/>
                <a:cs typeface="+mn-lt"/>
              </a:rPr>
              <a:t>  ### User:</a:t>
            </a:r>
          </a:p>
          <a:p>
            <a:pPr marL="0" indent="0">
              <a:buNone/>
            </a:pPr>
            <a:r>
              <a:rPr lang="ru-RU" sz="2400" dirty="0">
                <a:ea typeface="+mn-lt"/>
                <a:cs typeface="+mn-lt"/>
              </a:rPr>
              <a:t> {вопрос пользователя}</a:t>
            </a:r>
            <a:endParaRPr lang="ru-RU" sz="2400" dirty="0"/>
          </a:p>
          <a:p>
            <a:pPr marL="0" indent="0">
              <a:buNone/>
            </a:pPr>
            <a:r>
              <a:rPr lang="ru-RU" sz="2400" dirty="0">
                <a:ea typeface="+mn-lt"/>
                <a:cs typeface="+mn-lt"/>
              </a:rPr>
              <a:t> ### </a:t>
            </a:r>
            <a:r>
              <a:rPr lang="ru-RU" sz="2400">
                <a:ea typeface="+mn-lt"/>
                <a:cs typeface="+mn-lt"/>
              </a:rPr>
              <a:t>Assistant</a:t>
            </a:r>
            <a:r>
              <a:rPr lang="ru-RU" sz="2400" dirty="0">
                <a:ea typeface="+mn-lt"/>
                <a:cs typeface="+mn-lt"/>
              </a:rPr>
              <a:t>:</a:t>
            </a:r>
          </a:p>
          <a:p>
            <a:pPr marL="0" indent="0">
              <a:buNone/>
            </a:pPr>
            <a:r>
              <a:rPr lang="ru-RU" sz="2400" dirty="0">
                <a:ea typeface="+mn-lt"/>
                <a:cs typeface="+mn-lt"/>
              </a:rPr>
              <a:t> {SPARQL запрос}</a:t>
            </a:r>
            <a:endParaRPr lang="ru-RU" sz="2400" dirty="0"/>
          </a:p>
          <a:p>
            <a:pPr marL="383540" indent="-383540">
              <a:buNone/>
            </a:pPr>
            <a:r>
              <a:rPr lang="ru-RU" sz="2400" dirty="0">
                <a:ea typeface="+mn-lt"/>
                <a:cs typeface="+mn-lt"/>
              </a:rPr>
              <a:t>SYSTEM """</a:t>
            </a:r>
            <a:endParaRPr lang="ru-RU" sz="2400" dirty="0"/>
          </a:p>
          <a:p>
            <a:pPr marL="383540" indent="-383540">
              <a:buNone/>
            </a:pPr>
            <a:r>
              <a:rPr lang="ru-RU" sz="2400">
                <a:ea typeface="+mn-lt"/>
                <a:cs typeface="+mn-lt"/>
              </a:rPr>
              <a:t>Ты - эксперт по Wikidata</a:t>
            </a:r>
            <a:r>
              <a:rPr lang="ru-RU" sz="2400" dirty="0">
                <a:ea typeface="+mn-lt"/>
                <a:cs typeface="+mn-lt"/>
              </a:rPr>
              <a:t> и SPARQL. Твоя </a:t>
            </a:r>
            <a:r>
              <a:rPr lang="ru-RU" sz="2400">
                <a:ea typeface="+mn-lt"/>
                <a:cs typeface="+mn-lt"/>
              </a:rPr>
              <a:t>задача генерировать точные SPARQL запросы для Wikidata</a:t>
            </a:r>
            <a:r>
              <a:rPr lang="ru-RU" sz="2400" dirty="0">
                <a:ea typeface="+mn-lt"/>
                <a:cs typeface="+mn-lt"/>
              </a:rPr>
              <a:t> на основе описания на естественном языке.</a:t>
            </a:r>
          </a:p>
        </p:txBody>
      </p:sp>
    </p:spTree>
    <p:extLst>
      <p:ext uri="{BB962C8B-B14F-4D97-AF65-F5344CB8AC3E}">
        <p14:creationId xmlns:p14="http://schemas.microsoft.com/office/powerpoint/2010/main" val="4060867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7AA4D-6DD2-360B-FF80-DAD6D8AE7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/>
          </a:bodyPr>
          <a:lstStyle/>
          <a:p>
            <a:r>
              <a:rPr lang="ru-RU"/>
              <a:t>Промпт</a:t>
            </a:r>
          </a:p>
        </p:txBody>
      </p:sp>
      <p:graphicFrame>
        <p:nvGraphicFramePr>
          <p:cNvPr id="19" name="Объект 18">
            <a:extLst>
              <a:ext uri="{FF2B5EF4-FFF2-40B4-BE49-F238E27FC236}">
                <a16:creationId xmlns:a16="http://schemas.microsoft.com/office/drawing/2014/main" id="{A19ACB47-1282-82E5-828D-F861DB95A2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810677"/>
              </p:ext>
            </p:extLst>
          </p:nvPr>
        </p:nvGraphicFramePr>
        <p:xfrm>
          <a:off x="1371600" y="1942171"/>
          <a:ext cx="9601200" cy="1483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528085177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196281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Компонент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38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Разделитель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>
                          <a:solidFill>
                            <a:srgbClr val="000000"/>
                          </a:solidFill>
                          <a:latin typeface="Franklin Gothic Book"/>
                        </a:rPr>
                        <a:t>`### User:` и `### Assistant:`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00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/>
                        <a:t>формат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>
                          <a:solidFill>
                            <a:srgbClr val="000000"/>
                          </a:solidFill>
                          <a:latin typeface="Franklin Gothic Book"/>
                        </a:rPr>
                        <a:t>`### User:\n{вопрос}\n\n### Assistant:\n`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29306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/>
                        <a:t>Стоп-маркер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baseline="0" noProof="0">
                          <a:solidFill>
                            <a:srgbClr val="000000"/>
                          </a:solidFill>
                          <a:latin typeface="Franklin Gothic Book"/>
                        </a:rPr>
                        <a:t>`###`</a:t>
                      </a: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98928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7BFF2AEA-9A87-B02F-2868-32E180746974}"/>
              </a:ext>
            </a:extLst>
          </p:cNvPr>
          <p:cNvSpPr txBox="1"/>
          <p:nvPr/>
        </p:nvSpPr>
        <p:spPr>
          <a:xfrm>
            <a:off x="1373706" y="3865260"/>
            <a:ext cx="960033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/>
              <a:t>Пример:</a:t>
            </a:r>
          </a:p>
          <a:p>
            <a:r>
              <a:rPr lang="ru-RU"/>
              <a:t> ### User:</a:t>
            </a:r>
          </a:p>
          <a:p>
            <a:r>
              <a:rPr lang="ru-RU"/>
              <a:t> Столица России</a:t>
            </a:r>
          </a:p>
          <a:p>
            <a:pPr marL="285750" indent="-285750">
              <a:buFont typeface="Arial"/>
              <a:buChar char="•"/>
            </a:pPr>
            <a:endParaRPr lang="ru-RU" dirty="0"/>
          </a:p>
          <a:p>
            <a:r>
              <a:rPr lang="ru-RU"/>
              <a:t> ### Assistant:</a:t>
            </a:r>
          </a:p>
          <a:p>
            <a:r>
              <a:rPr lang="ru-RU"/>
              <a:t> PREFIX wd: &lt;http://www.wikidata.org/entity/&gt;</a:t>
            </a:r>
          </a:p>
          <a:p>
            <a:r>
              <a:rPr lang="ru-RU"/>
              <a:t> PREFIX wdt: &lt;http://www.wikidata.org/prop/direct/&gt;</a:t>
            </a:r>
          </a:p>
          <a:p>
            <a:r>
              <a:rPr lang="ru-RU"/>
              <a:t> SELECT ?answer WHERE { wd:Q159 wdt:P36 ?answer . }</a:t>
            </a:r>
          </a:p>
        </p:txBody>
      </p:sp>
    </p:spTree>
    <p:extLst>
      <p:ext uri="{BB962C8B-B14F-4D97-AF65-F5344CB8AC3E}">
        <p14:creationId xmlns:p14="http://schemas.microsoft.com/office/powerpoint/2010/main" val="2759351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5AB8B4-3775-18DB-40D2-9CD6F587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ru-RU"/>
              <a:t>Qwen - обученный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947279-51DF-B367-E925-12B13FFA5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3282694" cy="35814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err="1"/>
              <a:t>Вопросы</a:t>
            </a:r>
            <a:r>
              <a:rPr lang="en-US"/>
              <a:t>:</a:t>
            </a:r>
          </a:p>
          <a:p>
            <a:pPr marL="383540" indent="-383540">
              <a:spcBef>
                <a:spcPts val="0"/>
              </a:spcBef>
              <a:buFont typeface="Arial" panose="020B0503020102020204" pitchFamily="34" charset="0"/>
              <a:buChar char="•"/>
            </a:pPr>
            <a:r>
              <a:rPr lang="en-US"/>
              <a:t>Столица </a:t>
            </a:r>
            <a:r>
              <a:rPr lang="en-US" err="1"/>
              <a:t>России</a:t>
            </a:r>
            <a:r>
              <a:rPr lang="en-US"/>
              <a:t>.</a:t>
            </a:r>
          </a:p>
          <a:p>
            <a:pPr marL="383540" indent="-383540">
              <a:spcBef>
                <a:spcPts val="0"/>
              </a:spcBef>
              <a:buFont typeface="Arial" panose="020B0503020102020204" pitchFamily="34" charset="0"/>
              <a:buChar char="•"/>
            </a:pPr>
            <a:r>
              <a:rPr lang="en-US"/>
              <a:t>Кто </a:t>
            </a:r>
            <a:r>
              <a:rPr lang="en-US" err="1"/>
              <a:t>написал</a:t>
            </a:r>
            <a:r>
              <a:rPr lang="en-US"/>
              <a:t> Войну и </a:t>
            </a:r>
            <a:r>
              <a:rPr lang="en-US" err="1"/>
              <a:t>мир</a:t>
            </a:r>
            <a:r>
              <a:rPr lang="en-US"/>
              <a:t>.</a:t>
            </a:r>
          </a:p>
          <a:p>
            <a:pPr marL="383540" indent="-383540">
              <a:spcBef>
                <a:spcPts val="0"/>
              </a:spcBef>
              <a:buFont typeface="Arial" panose="020B0503020102020204" pitchFamily="34" charset="0"/>
              <a:buChar char="•"/>
            </a:pPr>
            <a:r>
              <a:rPr lang="en-US" err="1"/>
              <a:t>Когда</a:t>
            </a:r>
            <a:r>
              <a:rPr lang="en-US"/>
              <a:t> </a:t>
            </a:r>
            <a:r>
              <a:rPr lang="en-US" err="1"/>
              <a:t>началась</a:t>
            </a:r>
            <a:r>
              <a:rPr lang="en-US"/>
              <a:t> Вторая </a:t>
            </a:r>
            <a:r>
              <a:rPr lang="en-US" err="1"/>
              <a:t>мировая</a:t>
            </a:r>
            <a:r>
              <a:rPr lang="en-US"/>
              <a:t> </a:t>
            </a:r>
            <a:r>
              <a:rPr lang="en-US" err="1"/>
              <a:t>война</a:t>
            </a:r>
            <a:r>
              <a:rPr lang="en-US"/>
              <a:t>.</a:t>
            </a:r>
          </a:p>
          <a:p>
            <a:pPr marL="383540" indent="-383540">
              <a:buFont typeface="Arial" panose="020B0503020102020204" pitchFamily="34" charset="0"/>
              <a:buChar char="•"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7C1BC7-452E-45E7-81BB-0AF73886A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467" y="1004500"/>
            <a:ext cx="6562369" cy="484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1562DB-ECCE-4EBF-A3DE-9494991439B5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МЕТРИКИ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3095149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92C121-15F5-40D7-8486-20043FD0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</a:t>
            </a:r>
            <a:r>
              <a:rPr lang="ru-RU"/>
              <a:t> - Графический интерфейс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923AB4-3755-4E2D-ACC3-94C5E02F8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4775" y="1838325"/>
            <a:ext cx="9664700" cy="1186391"/>
          </a:xfrm>
        </p:spPr>
        <p:txBody>
          <a:bodyPr/>
          <a:lstStyle/>
          <a:p>
            <a:pPr marL="0" indent="0">
              <a:buNone/>
            </a:pPr>
            <a:r>
              <a:rPr lang="ru-RU" sz="1800" dirty="0"/>
              <a:t>Для удобства взаимодействия с моделью разработано приложение с графическим интерфейсом.</a:t>
            </a:r>
          </a:p>
          <a:p>
            <a:pPr marL="0" indent="0">
              <a:buNone/>
            </a:pPr>
            <a:r>
              <a:rPr lang="ru-RU" sz="1800" dirty="0"/>
              <a:t>Основные возможности: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588B37C2-F4C1-438A-9DC7-4BAF0F81B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401777"/>
              </p:ext>
            </p:extLst>
          </p:nvPr>
        </p:nvGraphicFramePr>
        <p:xfrm>
          <a:off x="1664493" y="3024716"/>
          <a:ext cx="886301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8438">
                  <a:extLst>
                    <a:ext uri="{9D8B030D-6E8A-4147-A177-3AD203B41FA5}">
                      <a16:colId xmlns:a16="http://schemas.microsoft.com/office/drawing/2014/main" val="3118067570"/>
                    </a:ext>
                  </a:extLst>
                </a:gridCol>
                <a:gridCol w="6124575">
                  <a:extLst>
                    <a:ext uri="{9D8B030D-6E8A-4147-A177-3AD203B41FA5}">
                      <a16:colId xmlns:a16="http://schemas.microsoft.com/office/drawing/2014/main" val="1075048464"/>
                    </a:ext>
                  </a:extLst>
                </a:gridCol>
              </a:tblGrid>
              <a:tr h="328774"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Функция</a:t>
                      </a:r>
                      <a:endParaRPr lang="ru-RU" b="1"/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Описание</a:t>
                      </a:r>
                    </a:p>
                  </a:txBody>
                  <a:tcPr marL="121920"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178527"/>
                  </a:ext>
                </a:extLst>
              </a:tr>
              <a:tr h="328774"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quote-cjk-patch"/>
                        </a:rPr>
                        <a:t>Ввод вопроса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quote-cjk-patch"/>
                        </a:rPr>
                        <a:t>Текстовое поле для ввода вопроса на русском языке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45430"/>
                  </a:ext>
                </a:extLst>
              </a:tr>
              <a:tr h="328774">
                <a:tc>
                  <a:txBody>
                    <a:bodyPr/>
                    <a:lstStyle/>
                    <a:p>
                      <a:r>
                        <a:rPr lang="ru-RU" sz="1800" b="1">
                          <a:effectLst/>
                          <a:latin typeface="quote-cjk-patch"/>
                        </a:rPr>
                        <a:t>Генерация </a:t>
                      </a:r>
                      <a:r>
                        <a:rPr lang="en-US" sz="1800" b="1">
                          <a:effectLst/>
                          <a:latin typeface="quote-cjk-patch"/>
                        </a:rPr>
                        <a:t>SPARQL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quote-cjk-patch"/>
                        </a:rPr>
                        <a:t>Кнопка для запуска генерации запроса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91522"/>
                  </a:ext>
                </a:extLst>
              </a:tr>
              <a:tr h="378032">
                <a:tc>
                  <a:txBody>
                    <a:bodyPr/>
                    <a:lstStyle/>
                    <a:p>
                      <a:r>
                        <a:rPr lang="ru-RU" sz="1800" b="1">
                          <a:effectLst/>
                          <a:latin typeface="quote-cjk-patch"/>
                        </a:rPr>
                        <a:t>Отображение результата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quote-cjk-patch"/>
                        </a:rPr>
                        <a:t>Поле для вывода сгенерированного SPARQL-запроса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100138"/>
                  </a:ext>
                </a:extLst>
              </a:tr>
              <a:tr h="328774">
                <a:tc>
                  <a:txBody>
                    <a:bodyPr/>
                    <a:lstStyle/>
                    <a:p>
                      <a:r>
                        <a:rPr lang="ru-RU" sz="1800" b="1">
                          <a:effectLst/>
                          <a:latin typeface="quote-cjk-patch"/>
                        </a:rPr>
                        <a:t>Копирование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>
                          <a:effectLst/>
                          <a:latin typeface="quote-cjk-patch"/>
                        </a:rPr>
                        <a:t>Возможность скопировать результат в буфер обмена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948150"/>
                  </a:ext>
                </a:extLst>
              </a:tr>
              <a:tr h="378032">
                <a:tc>
                  <a:txBody>
                    <a:bodyPr/>
                    <a:lstStyle/>
                    <a:p>
                      <a:r>
                        <a:rPr lang="ru-RU" sz="1800" b="1" dirty="0">
                          <a:effectLst/>
                          <a:latin typeface="quote-cjk-patch"/>
                        </a:rPr>
                        <a:t>Контекстное меню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effectLst/>
                          <a:latin typeface="quote-cjk-patch"/>
                        </a:rPr>
                        <a:t>Копирование, вырезание, выделение всего текста правой кнопкой мыши</a:t>
                      </a:r>
                    </a:p>
                  </a:txBody>
                  <a:tcPr marL="121920" marT="76200" marB="762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508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862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733C5-CF7E-4BC6-A266-F8F425B79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467225" cy="1485900"/>
          </a:xfrm>
        </p:spPr>
        <p:txBody>
          <a:bodyPr/>
          <a:lstStyle/>
          <a:p>
            <a:r>
              <a:rPr lang="ru-RU" dirty="0"/>
              <a:t>Интерфейс</a:t>
            </a:r>
            <a:br>
              <a:rPr lang="ru-RU" dirty="0"/>
            </a:br>
            <a:r>
              <a:rPr lang="ru-RU" dirty="0"/>
              <a:t>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C42BAE3-B25B-4063-B849-EAAFEC52FF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68"/>
          <a:stretch/>
        </p:blipFill>
        <p:spPr>
          <a:xfrm>
            <a:off x="5191126" y="771525"/>
            <a:ext cx="6403884" cy="538410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9282DB-AA45-4AD4-BEA5-0344DAD36AC3}"/>
              </a:ext>
            </a:extLst>
          </p:cNvPr>
          <p:cNvSpPr txBox="1"/>
          <p:nvPr/>
        </p:nvSpPr>
        <p:spPr>
          <a:xfrm>
            <a:off x="1304925" y="2657475"/>
            <a:ext cx="34099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Создан с помощью библиотеки </a:t>
            </a:r>
            <a:r>
              <a:rPr lang="en-US" dirty="0" err="1"/>
              <a:t>Tkinter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Преимущества: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Простота - не требует знаний командной строки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Доступность - все функции в одном окне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Удобство – быстрое копирование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321652584"/>
      </p:ext>
    </p:extLst>
  </p:cSld>
  <p:clrMapOvr>
    <a:masterClrMapping/>
  </p:clrMapOvr>
</p:sld>
</file>

<file path=ppt/theme/theme1.xml><?xml version="1.0" encoding="utf-8"?>
<a:theme xmlns:a="http://schemas.openxmlformats.org/drawingml/2006/main" name="TF10001025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1106</Words>
  <Application>Microsoft Office PowerPoint</Application>
  <PresentationFormat>Широкоэкранный</PresentationFormat>
  <Paragraphs>231</Paragraphs>
  <Slides>21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Franklin Gothic Book</vt:lpstr>
      <vt:lpstr>quote-cjk-patch</vt:lpstr>
      <vt:lpstr>Times New Roman</vt:lpstr>
      <vt:lpstr>TF10001025</vt:lpstr>
      <vt:lpstr>Генерация и верификация SPARQL-запросов с использованием LLM для навигации по графам знаний</vt:lpstr>
      <vt:lpstr>Цель</vt:lpstr>
      <vt:lpstr>Постановка задачи</vt:lpstr>
      <vt:lpstr>Требования к решению</vt:lpstr>
      <vt:lpstr>Задачи</vt:lpstr>
      <vt:lpstr>Создание датасета</vt:lpstr>
      <vt:lpstr>Базовые модели и их проблемы </vt:lpstr>
      <vt:lpstr>Выбор финальной модели - Qwen‑2 </vt:lpstr>
      <vt:lpstr>Структура датасета(сделать таблицу)</vt:lpstr>
      <vt:lpstr>Параметры LoRA и обучения </vt:lpstr>
      <vt:lpstr>Динамика обучения </vt:lpstr>
      <vt:lpstr>Промпт</vt:lpstr>
      <vt:lpstr>Базовая vs Дообученная модель</vt:lpstr>
      <vt:lpstr>МЕТРИКИ КАЧЕСТВА</vt:lpstr>
      <vt:lpstr>Результаты</vt:lpstr>
      <vt:lpstr>Спасибо за внимание!</vt:lpstr>
      <vt:lpstr>Промпт - начальный</vt:lpstr>
      <vt:lpstr>Промпт</vt:lpstr>
      <vt:lpstr>Qwen - обученный</vt:lpstr>
      <vt:lpstr>GUI - Графический интерфейс</vt:lpstr>
      <vt:lpstr>Интерфейс программы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Копирайтер</dc:title>
  <dc:creator>Glory Grim</dc:creator>
  <cp:lastModifiedBy>Сергей Егорин</cp:lastModifiedBy>
  <cp:revision>718</cp:revision>
  <dcterms:created xsi:type="dcterms:W3CDTF">2026-01-22T07:11:10Z</dcterms:created>
  <dcterms:modified xsi:type="dcterms:W3CDTF">2026-05-21T16:28:33Z</dcterms:modified>
</cp:coreProperties>
</file>