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44c5a8181609736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g44c5a8181609736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6d3607b3f6c10f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a6d3607b3f6c10f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4091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01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90373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3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7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23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03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492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002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8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06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5813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4681E-2F7B-4639-B466-019BC991AB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Выпускная квалификационная работа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3200" dirty="0">
                <a:solidFill>
                  <a:srgbClr val="0F1115"/>
                </a:solidFill>
                <a:latin typeface="quote-cjk-patch"/>
              </a:rPr>
              <a:t>на тему </a:t>
            </a:r>
            <a:r>
              <a:rPr lang="en-US" sz="3200" dirty="0">
                <a:solidFill>
                  <a:srgbClr val="0F1115"/>
                </a:solidFill>
                <a:latin typeface="quote-cjk-patch"/>
              </a:rPr>
              <a:t>“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Генерация и верификация SPARQL-запросов с использованием LLM для навигации по графам знаний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quote-cjk-patch"/>
              </a:rPr>
              <a:t>”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C9762C-4D33-42A5-8D04-5B5533B8C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Студент: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Запиров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А. М.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Научный руководитель: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Атаева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О.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79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Цель проекта</a:t>
            </a:r>
            <a:endParaRPr b="1">
              <a:solidFill>
                <a:srgbClr val="0F11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ru-RU" sz="36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Создать дообученную языковую модель для автоматической генерации SPARQL запросов к Wikidata по вопросам на русском языке.</a:t>
            </a:r>
            <a:endParaRPr sz="3600">
              <a:solidFill>
                <a:srgbClr val="0F111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Источники данных и методы</a:t>
            </a:r>
            <a:b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None/>
            </a:pPr>
            <a:r>
              <a:rPr b="1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Предметная область:</a:t>
            </a:r>
            <a:endParaRPr b="0" i="0">
              <a:solidFill>
                <a:srgbClr val="0F11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Char char="•"/>
            </a:pPr>
            <a:r>
              <a:rPr b="1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Данны</a:t>
            </a:r>
            <a: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е:</a:t>
            </a: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 графы знаний, доступные через базы Wikidata.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Char char="•"/>
            </a:pPr>
            <a:r>
              <a:rPr b="1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Стек технологий:</a:t>
            </a: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Анализ W3C стандартов (RDF, SPARQL, OWL) и современных NLP-решений.</a:t>
            </a:r>
            <a:endParaRPr/>
          </a:p>
          <a:p>
            <a:pPr indent="0" lvl="0" marL="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None/>
            </a:pPr>
            <a:r>
              <a:rPr b="1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Ключевые методы решения:</a:t>
            </a:r>
            <a:endParaRPr b="0" i="0">
              <a:solidFill>
                <a:srgbClr val="0F11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Char char="•"/>
            </a:pPr>
            <a:r>
              <a:rPr b="1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NL-to-SPARQL:</a:t>
            </a: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Преобразование естественного языка в формальный запрос.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Char char="•"/>
            </a:pPr>
            <a:r>
              <a:rPr b="1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Использование Больших Языковых Моделей (LLM):</a:t>
            </a: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Современный подход, основанный на контекстном обучении (few-shot prompting), вместо устаревших rule-based систем.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br>
              <a:rPr lang="ru-RU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None/>
            </a:pPr>
            <a:r>
              <a:rPr b="1" i="0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Почему LLM и локальное развертывание?</a:t>
            </a:r>
            <a:endParaRPr b="0" i="0" sz="2400">
              <a:solidFill>
                <a:srgbClr val="0F11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022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400"/>
              <a:buFont typeface="Arial"/>
              <a:buChar char="•"/>
            </a:pPr>
            <a:r>
              <a:rPr b="1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Базовая модель: </a:t>
            </a:r>
            <a:r>
              <a:rPr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Microsoft Phi-2 (2.7B параметров)</a:t>
            </a:r>
            <a:endParaRPr sz="2400"/>
          </a:p>
          <a:p>
            <a:pPr indent="-438022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400"/>
              <a:buFont typeface="Arial"/>
              <a:buChar char="•"/>
            </a:pPr>
            <a:r>
              <a:rPr b="1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Метод обучения: </a:t>
            </a:r>
            <a:r>
              <a:rPr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LoRA (Low-Rank Adaptation)</a:t>
            </a:r>
            <a:r>
              <a:rPr i="0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/>
          </a:p>
          <a:p>
            <a:pPr indent="-438022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400"/>
              <a:buFont typeface="Arial"/>
              <a:buChar char="•"/>
            </a:pPr>
            <a:r>
              <a:rPr b="1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Квантование	</a:t>
            </a:r>
            <a:r>
              <a:rPr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4-bit NF4 (QLoRA)</a:t>
            </a:r>
            <a:endParaRPr sz="2400"/>
          </a:p>
          <a:p>
            <a:pPr indent="-438022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400"/>
              <a:buFont typeface="Arial"/>
              <a:buChar char="•"/>
            </a:pPr>
            <a:r>
              <a:rPr b="1" i="0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Развертывание LLM:</a:t>
            </a:r>
            <a:r>
              <a:rPr b="0" i="0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Ollama.</a:t>
            </a:r>
            <a:endParaRPr b="0" i="0" sz="2400">
              <a:solidFill>
                <a:srgbClr val="0F11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022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400"/>
              <a:buFont typeface="Arial"/>
              <a:buChar char="•"/>
            </a:pPr>
            <a:r>
              <a:rPr b="1"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Оптимизация:</a:t>
            </a:r>
            <a:r>
              <a:rPr lang="ru-RU" sz="240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	BitsAndBytes, Accelerate</a:t>
            </a:r>
            <a:endParaRPr sz="2400">
              <a:solidFill>
                <a:srgbClr val="0F11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1371600" y="685800"/>
            <a:ext cx="960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Технологический стек</a:t>
            </a:r>
            <a:endParaRPr b="1" sz="6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Что уже выполнено?</a:t>
            </a:r>
            <a:b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Libre Franklin"/>
              <a:buAutoNum type="romanUcPeriod"/>
            </a:pP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Создан рабочий прототип на python </a:t>
            </a:r>
            <a:r>
              <a:rPr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с использованием фреймворка Ollama для локального запуска модели.</a:t>
            </a:r>
            <a:endParaRPr/>
          </a:p>
          <a:p>
            <a:pPr indent="-514350" lvl="0" marL="51435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Libre Franklin"/>
              <a:buAutoNum type="romanUcPeriod"/>
            </a:pPr>
            <a:r>
              <a:rPr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Подготовлен датасет из 108 примеров пар «вопрос на русском – SPARQL для wikidata».</a:t>
            </a:r>
            <a:endParaRPr/>
          </a:p>
          <a:p>
            <a:pPr indent="-514350" lvl="0" marL="51435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Libre Franklin"/>
              <a:buAutoNum type="romanUcPeriod"/>
            </a:pP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Разработаны и протестированы различные шаблоны промптов для LLM.</a:t>
            </a:r>
            <a:endParaRPr/>
          </a:p>
          <a:p>
            <a:pPr indent="-514350" lvl="0" marL="51435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Libre Franklin"/>
              <a:buAutoNum type="romanUcPeriod"/>
            </a:pP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Си</a:t>
            </a:r>
            <a:r>
              <a:rPr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стема успешно генерирует базовые SPARQL-запросы.</a:t>
            </a:r>
            <a:endParaRPr/>
          </a:p>
          <a:p>
            <a:pPr indent="-514350" lvl="0" marL="51435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Libre Franklin"/>
              <a:buAutoNum type="romanUcPeriod"/>
            </a:pPr>
            <a:r>
              <a:rPr b="0" i="0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Достигнута базовая функциональность, подтверждающая жизнеспособность продукта.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План дальнейших работ</a:t>
            </a:r>
            <a:b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52450" lvl="0" marL="51435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ibre Franklin"/>
              <a:buAutoNum type="romanUcPeriod"/>
            </a:pPr>
            <a:r>
              <a:rPr lang="ru-RU" sz="3000"/>
              <a:t>Расширение датасета, включая добавление более сложных запросов, что позволит куда лучше обучить модель.</a:t>
            </a:r>
            <a:endParaRPr sz="3000"/>
          </a:p>
          <a:p>
            <a:pPr indent="-552450" lvl="0" marL="51435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ibre Franklin"/>
              <a:buAutoNum type="romanUcPeriod"/>
            </a:pPr>
            <a:r>
              <a:rPr lang="ru-RU" sz="3000"/>
              <a:t>Тонкая настройка базовой модели phi2, для лучшего понимания синтаксиса и семантики Wikidata, либо же полная ее замена на более совершенную модель.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Ожидаемый результат и значимость</a:t>
            </a:r>
            <a:br>
              <a:rPr b="1" lang="ru-RU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57" name="Google Shape;57;p4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9750" lvl="0" marL="51435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Franklin"/>
              <a:buAutoNum type="romanUcPeriod"/>
            </a:pPr>
            <a:r>
              <a:rPr lang="ru-RU" sz="2400"/>
              <a:t>Готовое к эксплуатации программное решение, позволяющее пользователям задавать вопросы на русском языке и получать корректные данные из wikidata без знания SPARQL.</a:t>
            </a:r>
            <a:endParaRPr sz="2400"/>
          </a:p>
          <a:p>
            <a:pPr indent="-539750" lvl="0" marL="51435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Franklin"/>
              <a:buAutoNum type="romanUcPeriod"/>
            </a:pPr>
            <a:r>
              <a:rPr lang="ru-RU" sz="2400"/>
              <a:t>Реализация с открытым исходным кодом может стать основой для дальнейших разработок в области семантического поиска и интеллектуальных ассистентов для работы с данными.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1" lang="ru-RU">
                <a:latin typeface="Times New Roman"/>
                <a:ea typeface="Times New Roman"/>
                <a:cs typeface="Times New Roman"/>
                <a:sym typeface="Times New Roman"/>
              </a:rPr>
              <a:t>Ошибки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1"/>
          <p:cNvSpPr txBox="1"/>
          <p:nvPr>
            <p:ph idx="1" type="body"/>
          </p:nvPr>
        </p:nvSpPr>
        <p:spPr>
          <a:xfrm>
            <a:off x="1371600" y="1899715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Ключевыми ошибками в ходе обучения модели является то что модель генерирует лишний текст после самого запроса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Clr>
                <a:schemeClr val="dk2"/>
              </a:buClr>
              <a:buSzPts val="20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" name="Google Shape;4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900" y="3177653"/>
            <a:ext cx="980122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Times New Roman"/>
                <a:ea typeface="Times New Roman"/>
                <a:cs typeface="Times New Roman"/>
                <a:sym typeface="Times New Roman"/>
              </a:rPr>
              <a:t>Исправленные ошибки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467000" y="1577998"/>
            <a:ext cx="9258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 генерировала вместо sparql-запроса простой текст, это исправилось с помощью переписывания modelfile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" name="Google Shape;5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891" y="2993991"/>
            <a:ext cx="9829800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